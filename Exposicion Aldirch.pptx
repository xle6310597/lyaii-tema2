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59" r:id="rId7"/>
    <p:sldId id="269" r:id="rId8"/>
    <p:sldId id="270" r:id="rId9"/>
    <p:sldId id="271" r:id="rId10"/>
    <p:sldId id="262" r:id="rId11"/>
    <p:sldId id="272" r:id="rId12"/>
    <p:sldId id="273" r:id="rId13"/>
    <p:sldId id="265" r:id="rId14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590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6" d="100"/>
          <a:sy n="76" d="100"/>
        </p:scale>
        <p:origin x="409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166804D-0DEA-4721-BC78-3BBD6B4259E3}" type="datetime1">
              <a:rPr lang="es-ES" smtClean="0"/>
              <a:t>13/10/2025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6834459-7356-44BF-850D-8B30C4FB3B6B}" type="slidenum">
              <a:rPr lang="es-ES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2D86D75-613D-4020-9F49-6E810D970D75}" type="datetime1">
              <a:rPr lang="es-ES" noProof="0" smtClean="0"/>
              <a:t>13/10/2025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A3C37BE-C303-496D-B5CD-85F2937540FC}" type="slidenum">
              <a:rPr lang="es-ES" noProof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s-ES" b="1" i="1">
                <a:latin typeface="Arial" pitchFamily="34" charset="0"/>
                <a:cs typeface="Arial" pitchFamily="34" charset="0"/>
              </a:rPr>
              <a:t>NOTA:</a:t>
            </a:r>
          </a:p>
          <a:p>
            <a:pPr rtl="0"/>
            <a:r>
              <a:rPr lang="es-ES" i="1">
                <a:latin typeface="Arial" pitchFamily="34" charset="0"/>
                <a:cs typeface="Arial" pitchFamily="34" charset="0"/>
              </a:rPr>
              <a:t>Para cambiar la imagen de esta diapositiva, seleccione la imagen y elimínela. Después, haga clic en el icono Imágenes del marcador de posición para insertar su propia imagen.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A3C37BE-C303-496D-B5CD-85F2937540FC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A3C37BE-C303-496D-B5CD-85F2937540FC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3239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A3C37BE-C303-496D-B5CD-85F2937540FC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289174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A3C37BE-C303-496D-B5CD-85F2937540FC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8137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A3C37BE-C303-496D-B5CD-85F2937540FC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09145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A3C37BE-C303-496D-B5CD-85F2937540FC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2837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A3C37BE-C303-496D-B5CD-85F2937540FC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65868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A3C37BE-C303-496D-B5CD-85F2937540FC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09517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A3C37BE-C303-496D-B5CD-85F2937540FC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585652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A3C37BE-C303-496D-B5CD-85F2937540FC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2285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>
              <a:defRPr sz="4400" cap="all" baseline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7" name="Rectángulo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pPr rtl="0"/>
            <a:fld id="{A6700C51-9175-4314-8CB3-49A1859856BA}" type="datetime1">
              <a:rPr lang="es-ES" noProof="0" smtClean="0"/>
              <a:t>13/10/2025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pPr rtl="0"/>
            <a:fld id="{0FF54DE5-C571-48E8-A5BC-B369434E2F44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EB4FEA8-DC3F-49E9-AB39-603D12EC43AE}" type="datetime1">
              <a:rPr lang="es-ES" noProof="0" smtClean="0"/>
              <a:t>13/10/2025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es-ES" noProof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de título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>
              <a:defRPr sz="4400" cap="all" baseline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11" name="Marcador de posición de imagen 10" descr="Marcador de posición vacío para agregar una imagen. Haga clic en el marcador de posición y seleccione la imagen que desee agregar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8" name="Rectángulo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grpSp>
        <p:nvGrpSpPr>
          <p:cNvPr id="14" name="Grupo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Conector recto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upo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Conector recto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ángulo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la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upo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Conector recto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Conector recto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ángulo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grpSp>
          <p:nvGrpSpPr>
            <p:cNvPr id="11" name="Grupo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Conector recto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ector recto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n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77F95F1-8BCE-4F50-A177-350854612C4B}" type="datetime1">
              <a:rPr lang="es-ES" noProof="0" smtClean="0"/>
              <a:t>13/10/2025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es-ES" noProof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668C50F-F24E-44EE-8122-D58BD9E8EA74}" type="datetime1">
              <a:rPr lang="es-ES" noProof="0" smtClean="0"/>
              <a:t>13/10/2025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es-ES" noProof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rtlCol="0"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rtlCol="0"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F79E90F-802B-4F97-8639-4B1FE3F317A8}" type="datetime1">
              <a:rPr lang="es-ES" noProof="0" smtClean="0"/>
              <a:t>13/10/2025</a:t>
            </a:fld>
            <a:endParaRPr lang="es-ES" noProof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es-ES" noProof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0A864E0-A01D-42F4-8CB5-EFF93D1DF42E}" type="datetime1">
              <a:rPr lang="es-ES" noProof="0" smtClean="0"/>
              <a:t>13/10/2025</a:t>
            </a:fld>
            <a:endParaRPr lang="es-ES" noProof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es-ES" noProof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E5AFE48-EA43-4272-BC16-ACE23514D23F}" type="datetime1">
              <a:rPr lang="es-ES" noProof="0" smtClean="0"/>
              <a:t>13/10/2025</a:t>
            </a:fld>
            <a:endParaRPr lang="es-ES" noProof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es-ES" noProof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B074727-7E77-420D-BEF2-1D71D1596181}" type="datetime1">
              <a:rPr lang="es-ES" noProof="0" smtClean="0"/>
              <a:t>13/10/2025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es-ES" noProof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3" name="Marcador de posición de imagen 2" descr="Marcador de posición vacío para agregar una imagen. Haga clic en el marcador de posición y seleccione la imagen que desee agregar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128F063-BF74-4E13-A1D6-3F4D9FA8504B}" type="datetime1">
              <a:rPr lang="es-ES" noProof="0" smtClean="0"/>
              <a:t>13/10/2025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es-ES" noProof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F8D0CC4-A36D-4547-A3F2-14DA1F4D8BC8}" type="datetime1">
              <a:rPr lang="es-ES" noProof="0" smtClean="0"/>
              <a:t>13/10/2025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es-ES" noProof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7717875-9125-4004-AA35-D5B366D4BC40}" type="datetime1">
              <a:rPr lang="es-ES" noProof="0" smtClean="0"/>
              <a:t>13/10/2025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es-ES" noProof="0"/>
              <a:t>‹Nº›</a:t>
            </a:fld>
            <a:endParaRPr lang="es-ES" noProof="0"/>
          </a:p>
        </p:txBody>
      </p:sp>
      <p:grpSp>
        <p:nvGrpSpPr>
          <p:cNvPr id="7" name="Grupo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Conector recto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cto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  <a:p>
            <a:pPr lvl="5" rtl="0"/>
            <a:r>
              <a:rPr lang="es-ES" noProof="0"/>
              <a:t>Sexto nivel</a:t>
            </a:r>
          </a:p>
          <a:p>
            <a:pPr lvl="6" rtl="0"/>
            <a:r>
              <a:rPr lang="es-ES" noProof="0"/>
              <a:t>Séptimo nivel</a:t>
            </a:r>
          </a:p>
          <a:p>
            <a:pPr lvl="7" rtl="0"/>
            <a:r>
              <a:rPr lang="es-ES" noProof="0"/>
              <a:t>Octavo nivel</a:t>
            </a:r>
          </a:p>
          <a:p>
            <a:pPr lvl="8" rtl="0"/>
            <a:r>
              <a:rPr lang="es-ES" noProof="0"/>
              <a:t>Noveno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rtl="0"/>
            <a:fld id="{88D4E06B-6341-4106-90D5-731631E1087C}" type="datetime1">
              <a:rPr lang="es-ES" noProof="0" smtClean="0"/>
              <a:t>13/10/2025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rtl="0"/>
            <a:fld id="{0FF54DE5-C571-48E8-A5BC-B369434E2F44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grpSp>
        <p:nvGrpSpPr>
          <p:cNvPr id="15" name="Grupo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Conector recto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/>
          <a:lstStyle/>
          <a:p>
            <a:pPr rtl="0"/>
            <a:r>
              <a:rPr lang="es-ES" dirty="0"/>
              <a:t>Optimización</a:t>
            </a:r>
          </a:p>
        </p:txBody>
      </p:sp>
      <p:sp>
        <p:nvSpPr>
          <p:cNvPr id="7" name="Subtítulo 6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s-ES" dirty="0"/>
              <a:t>Aldrich Humberto Irena Ramirez.</a:t>
            </a:r>
          </a:p>
        </p:txBody>
      </p:sp>
      <p:pic>
        <p:nvPicPr>
          <p:cNvPr id="4" name="Marcador de posición de imagen 3" descr="Libro abierto en una mesa, con estanterías de libros borrosas en el fondo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Introducción</a:t>
            </a:r>
          </a:p>
        </p:txBody>
      </p:sp>
      <p:sp>
        <p:nvSpPr>
          <p:cNvPr id="14" name="Marcador de contenido 13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 rtl="0">
              <a:lnSpc>
                <a:spcPct val="150000"/>
              </a:lnSpc>
            </a:pPr>
            <a:r>
              <a:rPr lang="es-ES" dirty="0"/>
              <a:t>La optimización consiste en mejorar la eficiencia del código generado por un compilador o programador, sin alterar el resultado final. Su propósito es reducir el tiempo de ejecución y el uso de recursos, como memoria o registros, haciendo que los programas sean más rápidos y ligeros.</a:t>
            </a:r>
          </a:p>
        </p:txBody>
      </p:sp>
    </p:spTree>
    <p:extLst>
      <p:ext uri="{BB962C8B-B14F-4D97-AF65-F5344CB8AC3E}">
        <p14:creationId xmlns:p14="http://schemas.microsoft.com/office/powerpoint/2010/main" val="165425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3.1 Tipos de optimización 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570E4EE-B6A4-45D4-BA2C-234AB959FDA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663749" y="2004159"/>
            <a:ext cx="11106909" cy="378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800" b="1" dirty="0">
                <a:latin typeface="Arial" panose="020B0604020202020204" pitchFamily="34" charset="0"/>
              </a:rPr>
              <a:t>3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.1.1 Locales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Las optimizaciones locales se aplican dentro de un bloque pequeño de código, como un bucle o función.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s-ES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aplica dentro de un bloque básico, es decir, un conjunto de instrucciones que se ejecutan secuencialmente sin saltos.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Ejemplo: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eliminar instrucciones redundantes o simplificar expresiones matemáticas.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t1 = a + b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t2 = a + b   →  t2 = t1   // se reutiliza el resultado</a:t>
            </a:r>
            <a:endParaRPr kumimoji="0" lang="es-MX" altLang="es-MX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78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3.1 Tipos de optimización 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570E4EE-B6A4-45D4-BA2C-234AB959FDA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798220" y="1666622"/>
            <a:ext cx="11106909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800" b="1" dirty="0">
                <a:latin typeface="Arial" panose="020B0604020202020204" pitchFamily="34" charset="0"/>
              </a:rPr>
              <a:t>3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.1.2 Ciclos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centran en mejorar el rendimiento de los bucles, ya que son estructuras que se repiten muchas veces.</a:t>
            </a:r>
            <a:b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Ejemplo: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mover cálculos fuera del bucle o reducir el número de iteraciones.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Invarianza de bucle: mover operaciones que no cambian fuera del ciclo.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Desenrollamiento de bucles: reducir el número de iteraciones repitiendo el cuerpo del bucle.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MX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es-ES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(i=0; i&lt;100; i++)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x = y + z;  // no depende de i, puede moverse fuera del ciclo</a:t>
            </a:r>
            <a:endParaRPr kumimoji="0" lang="es-MX" altLang="es-MX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8976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3.1 Tipos de optimización 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570E4EE-B6A4-45D4-BA2C-234AB959FDA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41786" y="1408206"/>
            <a:ext cx="11106909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3.1.3 Globales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Afectan a todo el programa o a varias funciones s</a:t>
            </a:r>
            <a:r>
              <a:rPr kumimoji="0" lang="es-ES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 realiza a nivel de todo el programa o de varias funciones.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b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Ejemplo: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eliminar variables o funciones que nunca se usan, o reutilizar registros entre funciones.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Eliminar variables temporales innecesarias o reutilizar valores previamente calculados en distintos bloques.</a:t>
            </a:r>
          </a:p>
        </p:txBody>
      </p:sp>
    </p:spTree>
    <p:extLst>
      <p:ext uri="{BB962C8B-B14F-4D97-AF65-F5344CB8AC3E}">
        <p14:creationId xmlns:p14="http://schemas.microsoft.com/office/powerpoint/2010/main" val="2747309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3.1 Tipos de optimización 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570E4EE-B6A4-45D4-BA2C-234AB959FDA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42545" y="1435101"/>
            <a:ext cx="11106909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3.1.4 Mirilla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MX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Analiza pequeñas secuencias de instrucciones contiguas (una “ventana” o “mirilla”) buscando patrones ineficientes.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MX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Ejemplo: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 R1, R2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 R2, R1   →   </a:t>
            </a:r>
            <a:r>
              <a:rPr kumimoji="0" lang="pt-BR" altLang="es-MX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innecesario</a:t>
            </a:r>
            <a:r>
              <a:rPr kumimoji="0" lang="pt-BR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se </a:t>
            </a:r>
            <a:r>
              <a:rPr kumimoji="0" lang="pt-BR" altLang="es-MX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puede</a:t>
            </a:r>
            <a:r>
              <a:rPr kumimoji="0" lang="pt-BR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eliminar</a:t>
            </a:r>
            <a:endParaRPr kumimoji="0" lang="es-MX" altLang="es-MX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1257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3.2 Costos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s-ES" dirty="0"/>
              <a:t>3.2.1 Costos ejecución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/>
        <p:txBody>
          <a:bodyPr rtlCol="0"/>
          <a:lstStyle/>
          <a:p>
            <a:pPr marL="0" indent="0" algn="just" rtl="0">
              <a:buNone/>
            </a:pPr>
            <a:r>
              <a:rPr lang="es-ES" dirty="0"/>
              <a:t>Se mide en tiempo y recursos utilizados durante la ejecución del programa.</a:t>
            </a:r>
          </a:p>
          <a:p>
            <a:pPr marL="0" indent="0" algn="just" rtl="0">
              <a:buNone/>
            </a:pPr>
            <a:r>
              <a:rPr lang="es-ES" dirty="0"/>
              <a:t>Los factores más comunes son:</a:t>
            </a:r>
          </a:p>
          <a:p>
            <a:pPr algn="just" rtl="0"/>
            <a:r>
              <a:rPr lang="es-ES" dirty="0"/>
              <a:t>Memoria: cuánto espacio ocupa el programa.</a:t>
            </a:r>
          </a:p>
          <a:p>
            <a:pPr algn="just" rtl="0"/>
            <a:r>
              <a:rPr lang="es-ES" dirty="0"/>
              <a:t>Registros: cuántos registros del CPU utiliza.</a:t>
            </a:r>
          </a:p>
          <a:p>
            <a:pPr algn="just" rtl="0"/>
            <a:r>
              <a:rPr lang="es-ES" dirty="0"/>
              <a:t>Pila (</a:t>
            </a:r>
            <a:r>
              <a:rPr lang="es-ES" dirty="0" err="1"/>
              <a:t>stack</a:t>
            </a:r>
            <a:r>
              <a:rPr lang="es-ES" dirty="0"/>
              <a:t>): cuántas llamadas o variables temporales se almacenan.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/>
        <p:txBody>
          <a:bodyPr rtlCol="0"/>
          <a:lstStyle/>
          <a:p>
            <a:pPr rtl="0"/>
            <a:r>
              <a:rPr lang="es-ES" dirty="0"/>
              <a:t>Objetivo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606988" y="2424112"/>
            <a:ext cx="4478594" cy="677676"/>
          </a:xfrm>
        </p:spPr>
        <p:txBody>
          <a:bodyPr rtlCol="0"/>
          <a:lstStyle/>
          <a:p>
            <a:pPr rtl="0"/>
            <a:r>
              <a:rPr lang="es-ES" dirty="0"/>
              <a:t>Minimizar estos costos sin alterar el resultado.</a:t>
            </a:r>
          </a:p>
        </p:txBody>
      </p:sp>
    </p:spTree>
    <p:extLst>
      <p:ext uri="{BB962C8B-B14F-4D97-AF65-F5344CB8AC3E}">
        <p14:creationId xmlns:p14="http://schemas.microsoft.com/office/powerpoint/2010/main" val="2224495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3.2.2 Criterios para mejorar el </a:t>
            </a:r>
            <a:r>
              <a:rPr lang="es-ES" dirty="0" err="1"/>
              <a:t>codigo</a:t>
            </a:r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s-ES" dirty="0"/>
              <a:t>Algunas estrategias generales son: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784674" y="1550053"/>
            <a:ext cx="4919472" cy="823912"/>
          </a:xfrm>
        </p:spPr>
        <p:txBody>
          <a:bodyPr rtlCol="0"/>
          <a:lstStyle/>
          <a:p>
            <a:pPr rtl="0"/>
            <a:r>
              <a:rPr lang="es-ES" dirty="0"/>
              <a:t>Ejemplo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606988" y="2597966"/>
            <a:ext cx="4478594" cy="2465590"/>
          </a:xfrm>
        </p:spPr>
        <p:txBody>
          <a:bodyPr rtlCol="0">
            <a:normAutofit fontScale="92500" lnSpcReduction="10000"/>
          </a:bodyPr>
          <a:lstStyle/>
          <a:p>
            <a:pPr rtl="0"/>
            <a:r>
              <a:rPr lang="es-ES" dirty="0"/>
              <a:t>x = 5</a:t>
            </a:r>
          </a:p>
          <a:p>
            <a:pPr rtl="0"/>
            <a:r>
              <a:rPr lang="es-ES" dirty="0"/>
              <a:t>y = 3</a:t>
            </a:r>
          </a:p>
          <a:p>
            <a:pPr rtl="0"/>
            <a:r>
              <a:rPr lang="es-ES" dirty="0"/>
              <a:t>z = x * y</a:t>
            </a:r>
          </a:p>
          <a:p>
            <a:pPr rtl="0"/>
            <a:r>
              <a:rPr lang="es-ES" dirty="0"/>
              <a:t>x = 10</a:t>
            </a:r>
          </a:p>
          <a:p>
            <a:pPr rtl="0"/>
            <a:r>
              <a:rPr lang="es-ES" dirty="0" err="1"/>
              <a:t>return</a:t>
            </a:r>
            <a:r>
              <a:rPr lang="es-ES" dirty="0"/>
              <a:t> z     // la segunda asignación de x es inútil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7F56387-D5D6-42B3-92AE-1E5B6BF182BA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104900" y="2597966"/>
            <a:ext cx="5198896" cy="2118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Eliminar código muerto (instrucciones que nunca se ejecutan).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Reducir accesos innecesarios a memoria.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Simplificar expresiones aritméticas.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Reutilizar resultados ya calculados.</a:t>
            </a:r>
          </a:p>
        </p:txBody>
      </p:sp>
    </p:spTree>
    <p:extLst>
      <p:ext uri="{BB962C8B-B14F-4D97-AF65-F5344CB8AC3E}">
        <p14:creationId xmlns:p14="http://schemas.microsoft.com/office/powerpoint/2010/main" val="19855191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3.2.3 Herramientas para el análisis del flujo de datos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784674" y="1550053"/>
            <a:ext cx="4919472" cy="823912"/>
          </a:xfrm>
        </p:spPr>
        <p:txBody>
          <a:bodyPr rtlCol="0"/>
          <a:lstStyle/>
          <a:p>
            <a:pPr rtl="0"/>
            <a:r>
              <a:rPr lang="es-ES" dirty="0"/>
              <a:t>Ejemplo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606988" y="2597966"/>
            <a:ext cx="4478594" cy="2465590"/>
          </a:xfrm>
        </p:spPr>
        <p:txBody>
          <a:bodyPr rtlCol="0">
            <a:normAutofit/>
          </a:bodyPr>
          <a:lstStyle/>
          <a:p>
            <a:pPr rtl="0"/>
            <a:r>
              <a:rPr lang="es-ES" dirty="0"/>
              <a:t>Gráficas de flujo de control </a:t>
            </a:r>
          </a:p>
          <a:p>
            <a:pPr rtl="0"/>
            <a:r>
              <a:rPr lang="es-ES" dirty="0"/>
              <a:t>Análisis de alcance</a:t>
            </a:r>
          </a:p>
          <a:p>
            <a:pPr rtl="0"/>
            <a:r>
              <a:rPr lang="es-ES" dirty="0"/>
              <a:t>Analizadores de código intermedio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7F56387-D5D6-42B3-92AE-1E5B6BF182BA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104900" y="2597966"/>
            <a:ext cx="5198896" cy="2118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análisis del flujo de datos permite determinar qué valores y variables están activos o disponibles en cada punto del programa. Esto ayuda al compilador a aplicar las optimizaciones adecuadas.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9D88D84E-64EB-4AB2-BE42-31FD85D6E5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Análisis del flujo de datos</a:t>
            </a:r>
          </a:p>
        </p:txBody>
      </p:sp>
    </p:spTree>
    <p:extLst>
      <p:ext uri="{BB962C8B-B14F-4D97-AF65-F5344CB8AC3E}">
        <p14:creationId xmlns:p14="http://schemas.microsoft.com/office/powerpoint/2010/main" val="15890465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Conclusión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9980682" cy="4572000"/>
          </a:xfrm>
        </p:spPr>
        <p:txBody>
          <a:bodyPr rtlCol="0">
            <a:normAutofit/>
          </a:bodyPr>
          <a:lstStyle/>
          <a:p>
            <a:pPr algn="just" rtl="0">
              <a:lnSpc>
                <a:spcPct val="150000"/>
              </a:lnSpc>
            </a:pPr>
            <a:r>
              <a:rPr lang="es-ES" sz="2400" dirty="0"/>
              <a:t>La optimización del código intermedio es una etapa clave en los compiladores modernos. Permite generar programas más rápidos, más pequeños y con mejor uso de los recursos del sistema. </a:t>
            </a:r>
          </a:p>
          <a:p>
            <a:pPr algn="just" rtl="0">
              <a:lnSpc>
                <a:spcPct val="150000"/>
              </a:lnSpc>
            </a:pPr>
            <a:r>
              <a:rPr lang="es-ES" sz="2400" dirty="0"/>
              <a:t>Entender los distintos tipos de optimización ayuda a los programadores y diseñadores de compiladores a mejorar el rendimiento sin alterar la semántica del programa.</a:t>
            </a:r>
          </a:p>
        </p:txBody>
      </p:sp>
    </p:spTree>
    <p:extLst>
      <p:ext uri="{BB962C8B-B14F-4D97-AF65-F5344CB8AC3E}">
        <p14:creationId xmlns:p14="http://schemas.microsoft.com/office/powerpoint/2010/main" val="3197023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Literatura académica 16 × 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_50521058_TF03431380_Win32" id="{5C400E7D-6AB8-49FE-9A2F-71E6875E97F5}" vid="{0BCA5960-DFA7-4CF6-89F3-4F5800DAE8B6}"/>
    </a:ext>
  </a:extLst>
</a:theme>
</file>

<file path=ppt/theme/theme2.xml><?xml version="1.0" encoding="utf-8"?>
<a:theme xmlns:a="http://schemas.openxmlformats.org/drawingml/2006/main" name="Tema de Offic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académica, diseño de rayas finas y cintas (panorámica)</Template>
  <TotalTime>30</TotalTime>
  <Words>618</Words>
  <Application>Microsoft Office PowerPoint</Application>
  <PresentationFormat>Panorámica</PresentationFormat>
  <Paragraphs>72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Euphemia</vt:lpstr>
      <vt:lpstr>Plantagenet Cherokee</vt:lpstr>
      <vt:lpstr>Wingdings</vt:lpstr>
      <vt:lpstr>Literatura académica 16 × 9</vt:lpstr>
      <vt:lpstr>Optimización</vt:lpstr>
      <vt:lpstr>Introducción</vt:lpstr>
      <vt:lpstr>3.1 Tipos de optimización </vt:lpstr>
      <vt:lpstr>3.1 Tipos de optimización </vt:lpstr>
      <vt:lpstr>3.1 Tipos de optimización </vt:lpstr>
      <vt:lpstr>3.1 Tipos de optimización </vt:lpstr>
      <vt:lpstr>3.2 Costos</vt:lpstr>
      <vt:lpstr>3.2.2 Criterios para mejorar el codigo</vt:lpstr>
      <vt:lpstr>3.2.3 Herramientas para el análisis del flujo de datos</vt:lpstr>
      <vt:lpstr>Conclusión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Optimización</dc:title>
  <dc:creator>Aldrich Humberto Irena Ramirez</dc:creator>
  <cp:lastModifiedBy>Aldrich Humberto Irena Ramirez</cp:lastModifiedBy>
  <cp:revision>4</cp:revision>
  <dcterms:created xsi:type="dcterms:W3CDTF">2025-10-13T18:16:31Z</dcterms:created>
  <dcterms:modified xsi:type="dcterms:W3CDTF">2025-10-13T18:47:00Z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